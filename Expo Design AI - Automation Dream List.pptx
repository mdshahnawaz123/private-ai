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today</c:v>
                </c:pt>
              </c:strCache>
            </c:strRef>
          </c:tx>
          <c:spPr>
            <a:solidFill>
              <a:srgbClr val="6B7A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EAF0F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Drawing vs code check</c:v>
                </c:pt>
                <c:pt idx="1">
                  <c:v>Find a value in a meeting</c:v>
                </c:pt>
                <c:pt idx="2">
                  <c:v>Quantity takeoff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8</c:v>
                </c:pt>
                <c:pt idx="2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C2-4251-AEAE-DA3C9D02BE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Expo AI</c:v>
                </c:pt>
              </c:strCache>
            </c:strRef>
          </c:tx>
          <c:spPr>
            <a:solidFill>
              <a:srgbClr val="31D0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EAF0F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Drawing vs code check</c:v>
                </c:pt>
                <c:pt idx="1">
                  <c:v>Find a value in a meeting</c:v>
                </c:pt>
                <c:pt idx="2">
                  <c:v>Quantity takeoff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C2-4251-AEAE-DA3C9D02BE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746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we already run a working private AI on our own hardware. This deck shows what's live, the dream list of what we can automate for our day-to-day client-side work, and what we need to scale it. Key message: nothing goes to the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picture of our day-to-day. Every item here is something an AI that has read the project can do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security because it is the reason we build this in-house rather than using a cloud tool. This is the differentiator management cares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already exists and works. It proves the dream list is achievable, not wishful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simple. The point: one consistent, private pipeline that works across every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Newest delivered capability: a private 3D BIM viewer that is also connected to the AI. It moves BIM from the 'dream' column into 'live today' — and the auto plan-alignment fixes the Shared-Coordinates / True-North rotation so the 3D matches our 2D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biggest time-saver: the daily drawing-vs-code review, automated and cited.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maps directly to the owner-in-the-meeting pain point. Live, private, instant — and switch projects on the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is where management feels value fastest. All local, no cost data to the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feeds both the meeting copilot and the compliance checks — a single source of extracted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and audit make this defensible and professional — important for a consultant/client-side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BIM (view + measure + ask the model) is now LIVE — see the '3D BIM review' slide. These are the next, deeper steps: clash reporting, a live Revit link, and running compliance on the model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build-vs-buy decision. Our confidentiality requirement basically rules out generic cloud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done de-risks everything after it. Each phase is independently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chart honest — label it illustrative/target. The ask is modest relative to the recurring time saved and risk avoided.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decision: approve the hardware + time, pick a pilot, and we scale what's already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4D7CFE">
              <a:alpha val="12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-1645920" y="402336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8A6CFF">
              <a:alpha val="1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4D7CFE"/>
          </a:solidFill>
          <a:ln/>
          <a:effectLst>
            <a:outerShdw blurRad="228600" dist="63500" dir="5400000" algn="bl" rotWithShape="0">
              <a:srgbClr val="1E3AA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 txBox="1"/>
          <p:nvPr/>
        </p:nvSpPr>
        <p:spPr>
          <a:xfrm>
            <a:off x="566928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618488" y="14813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DESIGN AI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8595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engineering brain</a:t>
            </a:r>
            <a:endParaRPr lang="en-US" sz="4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project.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34340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AI that reviews drawings, answers questions instantly, and checks compliance — </a:t>
            </a:r>
            <a:r>
              <a:rPr lang="en-US" sz="16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offline. No project data ever leaves our office.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5989320"/>
            <a:ext cx="11057839" cy="0"/>
          </a:xfrm>
          <a:prstGeom prst="line">
            <a:avLst/>
          </a:prstGeom>
          <a:noFill/>
          <a:ln w="12700">
            <a:solidFill>
              <a:srgbClr val="2736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 txBox="1"/>
          <p:nvPr/>
        </p:nvSpPr>
        <p:spPr>
          <a:xfrm>
            <a:off x="566928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Dream List  ·  What's live today &amp; what's next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967167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Management  ·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REALITY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loses hours to manual, repetitive checks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7315200" cy="932688"/>
          </a:xfrm>
          <a:prstGeom prst="roundRect">
            <a:avLst>
              <a:gd name="adj" fmla="val 9804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768096" y="1819656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F258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 txBox="1"/>
          <p:nvPr/>
        </p:nvSpPr>
        <p:spPr>
          <a:xfrm>
            <a:off x="768096" y="1819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728216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drawings against DBC / IBC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07568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Clause-by-clause, sheet-by-sheet, by hand — slow and easy to miss.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660904"/>
            <a:ext cx="7315200" cy="932688"/>
          </a:xfrm>
          <a:prstGeom prst="roundRect">
            <a:avLst>
              <a:gd name="adj" fmla="val 9804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68096" y="288036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F258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 txBox="1"/>
          <p:nvPr/>
        </p:nvSpPr>
        <p:spPr>
          <a:xfrm>
            <a:off x="768096" y="2880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7889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Value-Engineering reviews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13639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Digging through BOQs and cost sheets to compare options.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21608"/>
            <a:ext cx="7315200" cy="932688"/>
          </a:xfrm>
          <a:prstGeom prst="roundRect">
            <a:avLst>
              <a:gd name="adj" fmla="val 9804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768096" y="3941064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F258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 txBox="1"/>
          <p:nvPr/>
        </p:nvSpPr>
        <p:spPr>
          <a:xfrm>
            <a:off x="768096" y="39410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849624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fire random questions in meetings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19709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GFA? BUA? this section dimension? that elevation?”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782312"/>
            <a:ext cx="7315200" cy="932688"/>
          </a:xfrm>
          <a:prstGeom prst="roundRect">
            <a:avLst>
              <a:gd name="adj" fmla="val 9804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768096" y="5001768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F258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 txBox="1"/>
          <p:nvPr/>
        </p:nvSpPr>
        <p:spPr>
          <a:xfrm>
            <a:off x="768096" y="5001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91032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Juggling many projects at once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525780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context and re-finding the right sheet, again and again.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75320" y="1600200"/>
            <a:ext cx="3346704" cy="4206240"/>
          </a:xfrm>
          <a:prstGeom prst="roundRect">
            <a:avLst>
              <a:gd name="adj" fmla="val 2732"/>
            </a:avLst>
          </a:prstGeom>
          <a:solidFill>
            <a:srgbClr val="1E2C46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 txBox="1"/>
          <p:nvPr/>
        </p:nvSpPr>
        <p:spPr>
          <a:xfrm>
            <a:off x="85039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2606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306324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finding</a:t>
            </a:r>
            <a:endParaRPr lang="en-US" sz="2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that</a:t>
            </a:r>
            <a:endParaRPr lang="en-US" sz="2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already in the</a:t>
            </a:r>
            <a:endParaRPr lang="en-US" sz="2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drawings.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5074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answers must stay confidential to the client.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NON-NEGOTIABLE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 — the data never leaves the building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client-side. Our projects are confidential. So the entire system runs on our own hardware, fully offline — the AI's power without the cloud's risk.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2558720" cy="30632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804672" y="26060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 txBox="1"/>
          <p:nvPr/>
        </p:nvSpPr>
        <p:spPr>
          <a:xfrm>
            <a:off x="80467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291840"/>
            <a:ext cx="2119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own workstation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931920"/>
            <a:ext cx="21198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local GPU PC in the office. No servers, no internet dependency.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99968" y="2331720"/>
            <a:ext cx="2558720" cy="30632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3637712" y="26060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4D7CF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 txBox="1"/>
          <p:nvPr/>
        </p:nvSpPr>
        <p:spPr>
          <a:xfrm>
            <a:off x="363771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9424" y="3291840"/>
            <a:ext cx="2119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goes to the internet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619424" y="3931920"/>
            <a:ext cx="21198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Drawings, budgets and answers stay 100% inside our network.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3008" y="2331720"/>
            <a:ext cx="2558720" cy="30632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6470752" y="26060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8A6C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 txBox="1"/>
          <p:nvPr/>
        </p:nvSpPr>
        <p:spPr>
          <a:xfrm>
            <a:off x="647075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52464" y="3291840"/>
            <a:ext cx="2119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folder security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452464" y="3931920"/>
            <a:ext cx="21198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sees only the folders they're assigned — enforced by the system.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66047" y="2331720"/>
            <a:ext cx="2558720" cy="30632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9303791" y="26060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5B7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 txBox="1"/>
          <p:nvPr/>
        </p:nvSpPr>
        <p:spPr>
          <a:xfrm>
            <a:off x="9303791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85503" y="3291840"/>
            <a:ext cx="2119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&amp; controllable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285503" y="3931920"/>
            <a:ext cx="21198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 and question is logged. We own and control everything.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intelligence of a large AI, with the confidentiality our clients demand.”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REAL — NOT A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working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3503066" cy="1371600"/>
          </a:xfrm>
          <a:prstGeom prst="roundRect">
            <a:avLst>
              <a:gd name="adj" fmla="val 6667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786384" y="168249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 txBox="1"/>
          <p:nvPr/>
        </p:nvSpPr>
        <p:spPr>
          <a:xfrm>
            <a:off x="786384" y="16824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1975104"/>
            <a:ext cx="30641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documents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286000"/>
            <a:ext cx="3064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questions, answered with the exact source file and page.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4314" y="1499616"/>
            <a:ext cx="3503066" cy="1371600"/>
          </a:xfrm>
          <a:prstGeom prst="roundRect">
            <a:avLst>
              <a:gd name="adj" fmla="val 6667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4563770" y="168249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 txBox="1"/>
          <p:nvPr/>
        </p:nvSpPr>
        <p:spPr>
          <a:xfrm>
            <a:off x="4563770" y="16824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63770" y="1975104"/>
            <a:ext cx="30641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drawings (vision)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63770" y="2286000"/>
            <a:ext cx="3064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vision model reads PDF drawings, DWG/DXF and images.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1701" y="1499616"/>
            <a:ext cx="3503066" cy="1371600"/>
          </a:xfrm>
          <a:prstGeom prst="roundRect">
            <a:avLst>
              <a:gd name="adj" fmla="val 6667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8341157" y="168249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 txBox="1"/>
          <p:nvPr/>
        </p:nvSpPr>
        <p:spPr>
          <a:xfrm>
            <a:off x="8341157" y="16824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41157" y="1975104"/>
            <a:ext cx="30641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 / IBC knowledge base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41157" y="2286000"/>
            <a:ext cx="3064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&amp; international codes as a private reference the AI can cite.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017520"/>
            <a:ext cx="3503066" cy="1371600"/>
          </a:xfrm>
          <a:prstGeom prst="roundRect">
            <a:avLst>
              <a:gd name="adj" fmla="val 6667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786384" y="3200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 txBox="1"/>
          <p:nvPr/>
        </p:nvSpPr>
        <p:spPr>
          <a:xfrm>
            <a:off x="786384" y="32004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3493008"/>
            <a:ext cx="30641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→ Folders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3803904"/>
            <a:ext cx="3064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per project and folder, the way our teams work.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4314" y="3017520"/>
            <a:ext cx="3503066" cy="1371600"/>
          </a:xfrm>
          <a:prstGeom prst="roundRect">
            <a:avLst>
              <a:gd name="adj" fmla="val 6667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Shape 23"/>
          <p:cNvSpPr/>
          <p:nvPr/>
        </p:nvSpPr>
        <p:spPr>
          <a:xfrm>
            <a:off x="4563770" y="3200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 txBox="1"/>
          <p:nvPr/>
        </p:nvSpPr>
        <p:spPr>
          <a:xfrm>
            <a:off x="4563770" y="32004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63770" y="3493008"/>
            <a:ext cx="30641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Folder-level security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63770" y="3803904"/>
            <a:ext cx="3064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access only assigned folders — with a built-in permission test.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21701" y="3017520"/>
            <a:ext cx="3503066" cy="1371600"/>
          </a:xfrm>
          <a:prstGeom prst="roundRect">
            <a:avLst>
              <a:gd name="adj" fmla="val 6667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0" name="Shape 28"/>
          <p:cNvSpPr/>
          <p:nvPr/>
        </p:nvSpPr>
        <p:spPr>
          <a:xfrm>
            <a:off x="8341157" y="3200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 txBox="1"/>
          <p:nvPr/>
        </p:nvSpPr>
        <p:spPr>
          <a:xfrm>
            <a:off x="8341157" y="32004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341157" y="3493008"/>
            <a:ext cx="30641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format, offline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41157" y="3803904"/>
            <a:ext cx="3064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Excel, DWG/DXF, images — processed on our own machine.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535424"/>
            <a:ext cx="3503066" cy="1371600"/>
          </a:xfrm>
          <a:prstGeom prst="roundRect">
            <a:avLst>
              <a:gd name="adj" fmla="val 6667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5" name="Shape 33"/>
          <p:cNvSpPr/>
          <p:nvPr/>
        </p:nvSpPr>
        <p:spPr>
          <a:xfrm>
            <a:off x="786384" y="4718304"/>
            <a:ext cx="489204" cy="274320"/>
          </a:xfrm>
          <a:prstGeom prst="roundRect">
            <a:avLst>
              <a:gd name="adj" fmla="val 50000"/>
            </a:avLst>
          </a:prstGeom>
          <a:solidFill>
            <a:srgbClr val="F5B73D">
              <a:alpha val="18000"/>
            </a:srgbClr>
          </a:solidFill>
          <a:ln w="12700">
            <a:solidFill>
              <a:srgbClr val="F5B73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 txBox="1"/>
          <p:nvPr/>
        </p:nvSpPr>
        <p:spPr>
          <a:xfrm>
            <a:off x="786384" y="4718304"/>
            <a:ext cx="489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" y="5010912"/>
            <a:ext cx="30641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BIM viewer (IFC)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86384" y="5321808"/>
            <a:ext cx="3064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IFC models in our own offline engine: section, measure, areas, plans.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44314" y="4535424"/>
            <a:ext cx="3503066" cy="1371600"/>
          </a:xfrm>
          <a:prstGeom prst="roundRect">
            <a:avLst>
              <a:gd name="adj" fmla="val 6667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0" name="Shape 38"/>
          <p:cNvSpPr/>
          <p:nvPr/>
        </p:nvSpPr>
        <p:spPr>
          <a:xfrm>
            <a:off x="4563770" y="4718304"/>
            <a:ext cx="489204" cy="274320"/>
          </a:xfrm>
          <a:prstGeom prst="roundRect">
            <a:avLst>
              <a:gd name="adj" fmla="val 50000"/>
            </a:avLst>
          </a:prstGeom>
          <a:solidFill>
            <a:srgbClr val="F5B73D">
              <a:alpha val="18000"/>
            </a:srgbClr>
          </a:solidFill>
          <a:ln w="12700">
            <a:solidFill>
              <a:srgbClr val="F5B73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 txBox="1"/>
          <p:nvPr/>
        </p:nvSpPr>
        <p:spPr>
          <a:xfrm>
            <a:off x="4563770" y="4718304"/>
            <a:ext cx="489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63770" y="5010912"/>
            <a:ext cx="30641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3D model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563770" y="5321808"/>
            <a:ext cx="3064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the BIM model itself — counts, levels, rooms and areas.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21701" y="4535424"/>
            <a:ext cx="3503066" cy="1371600"/>
          </a:xfrm>
          <a:prstGeom prst="roundRect">
            <a:avLst>
              <a:gd name="adj" fmla="val 6667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5" name="Shape 43"/>
          <p:cNvSpPr/>
          <p:nvPr/>
        </p:nvSpPr>
        <p:spPr>
          <a:xfrm>
            <a:off x="8341157" y="4718304"/>
            <a:ext cx="489204" cy="274320"/>
          </a:xfrm>
          <a:prstGeom prst="roundRect">
            <a:avLst>
              <a:gd name="adj" fmla="val 50000"/>
            </a:avLst>
          </a:prstGeom>
          <a:solidFill>
            <a:srgbClr val="F5B73D">
              <a:alpha val="18000"/>
            </a:srgbClr>
          </a:solidFill>
          <a:ln w="12700">
            <a:solidFill>
              <a:srgbClr val="F5B73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Text 44"/>
          <p:cNvSpPr txBox="1"/>
          <p:nvPr/>
        </p:nvSpPr>
        <p:spPr>
          <a:xfrm>
            <a:off x="8341157" y="4718304"/>
            <a:ext cx="489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341157" y="5010912"/>
            <a:ext cx="30641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plan alignment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8341157" y="5321808"/>
            <a:ext cx="3064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 the model to Project North so 3D matches our 2D drawings.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+ 3D BIM review — all running on our own hardware, the base the dream list builds 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drawings to instant answers — all in-house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476424" cy="2743200"/>
          </a:xfrm>
          <a:prstGeom prst="roundRect">
            <a:avLst>
              <a:gd name="adj" fmla="val 3692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1485100" y="232257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4D7CF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 txBox="1"/>
          <p:nvPr/>
        </p:nvSpPr>
        <p:spPr>
          <a:xfrm>
            <a:off x="1485100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108960"/>
            <a:ext cx="2110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493008"/>
            <a:ext cx="2110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Drawings, PDFs, Excel, DWG — into the right project &amp; folder.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15920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27400" y="2011680"/>
            <a:ext cx="2476424" cy="2743200"/>
          </a:xfrm>
          <a:prstGeom prst="roundRect">
            <a:avLst>
              <a:gd name="adj" fmla="val 3692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4345572" y="232257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8A6C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 txBox="1"/>
          <p:nvPr/>
        </p:nvSpPr>
        <p:spPr>
          <a:xfrm>
            <a:off x="4345572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0280" y="3108960"/>
            <a:ext cx="2110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10280" y="3493008"/>
            <a:ext cx="2110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vision + text engine extracts every page, drawing and value.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76392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87872" y="2011680"/>
            <a:ext cx="2476424" cy="2743200"/>
          </a:xfrm>
          <a:prstGeom prst="roundRect">
            <a:avLst>
              <a:gd name="adj" fmla="val 3692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7206044" y="232257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 txBox="1"/>
          <p:nvPr/>
        </p:nvSpPr>
        <p:spPr>
          <a:xfrm>
            <a:off x="7206044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70752" y="3108960"/>
            <a:ext cx="2110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index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70752" y="3493008"/>
            <a:ext cx="2110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indexed securely on our own machine — nothing leaves.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36863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48343" y="2011680"/>
            <a:ext cx="2476424" cy="2743200"/>
          </a:xfrm>
          <a:prstGeom prst="roundRect">
            <a:avLst>
              <a:gd name="adj" fmla="val 3692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10066515" y="232257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5B7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 txBox="1"/>
          <p:nvPr/>
        </p:nvSpPr>
        <p:spPr>
          <a:xfrm>
            <a:off x="10066515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31223" y="3108960"/>
            <a:ext cx="2110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&amp; get answers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31223" y="3493008"/>
            <a:ext cx="2110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 → answers with source file + exact page.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21208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flow, any project — switch instantly between all our jobs.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·  NOW LIVE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BIM review — in-house, offline &amp; AI-aware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project's IFC / BIM model on our own machine, review it live with full tools, and ask it questions — no cloud, no third-party viewer, nothing leaves the office.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68096" y="241401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 txBox="1"/>
          <p:nvPr/>
        </p:nvSpPr>
        <p:spPr>
          <a:xfrm>
            <a:off x="768096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◫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34086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IFC offline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65176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engine — no internet, no external viewer.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9456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6434176" y="241401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 txBox="1"/>
          <p:nvPr/>
        </p:nvSpPr>
        <p:spPr>
          <a:xfrm>
            <a:off x="6434176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234086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&amp; cut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65176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X / Y / Z to inspect any part of the model.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23697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768096" y="345643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 txBox="1"/>
          <p:nvPr/>
        </p:nvSpPr>
        <p:spPr>
          <a:xfrm>
            <a:off x="768096" y="3456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38328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area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9417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and area taken straight off the 3D model.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3008" y="323697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6434176" y="345643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 txBox="1"/>
          <p:nvPr/>
        </p:nvSpPr>
        <p:spPr>
          <a:xfrm>
            <a:off x="6434176" y="3456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▱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338328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plans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1688" y="369417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clean plan view per storey / level.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279392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768096" y="449884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 txBox="1"/>
          <p:nvPr/>
        </p:nvSpPr>
        <p:spPr>
          <a:xfrm>
            <a:off x="768096" y="4498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35608" y="4425696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· hide · colour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435608" y="4736592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the review on exactly what matters.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33008" y="4279392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6434176" y="449884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 txBox="1"/>
          <p:nvPr/>
        </p:nvSpPr>
        <p:spPr>
          <a:xfrm>
            <a:off x="6434176" y="4498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⧉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101688" y="4425696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multiple models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101688" y="4736592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+ structure + MEP in one scene.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321808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6" name="Shape 34"/>
          <p:cNvSpPr/>
          <p:nvPr/>
        </p:nvSpPr>
        <p:spPr>
          <a:xfrm>
            <a:off x="768096" y="554126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5B7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 txBox="1"/>
          <p:nvPr/>
        </p:nvSpPr>
        <p:spPr>
          <a:xfrm>
            <a:off x="768096" y="5541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435608" y="5468112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(AI)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1435608" y="5779008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doors? total room area? what's selected?” — answered offline.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33008" y="5321808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1" name="Shape 39"/>
          <p:cNvSpPr/>
          <p:nvPr/>
        </p:nvSpPr>
        <p:spPr>
          <a:xfrm>
            <a:off x="6434176" y="554126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5B7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 txBox="1"/>
          <p:nvPr/>
        </p:nvSpPr>
        <p:spPr>
          <a:xfrm>
            <a:off x="6434176" y="5541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✥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101688" y="5468112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Auto-aligns to plan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7101688" y="5779008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True-North rotation so 3D matches the drawings.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LIST  ·  AUTOMATED DESIGN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drawings against DBC / IBC — automatically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hours of manual clause-checking into an instant, cited compliance pass.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6809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Clause-by-clause checks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Auto-verify drawings against DBC &amp; IBC and flag issues.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643417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 txBox="1"/>
          <p:nvPr/>
        </p:nvSpPr>
        <p:spPr>
          <a:xfrm>
            <a:off x="643417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 flags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what fails and quote the exact code clause.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76809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 txBox="1"/>
          <p:nvPr/>
        </p:nvSpPr>
        <p:spPr>
          <a:xfrm>
            <a:off x="76809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review comments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standardized comment sheets per discipline.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300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643417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 txBox="1"/>
          <p:nvPr/>
        </p:nvSpPr>
        <p:spPr>
          <a:xfrm>
            <a:off x="643417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168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mismatches across sheets and between revisions.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LIST  ·  MEETING COPILOT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owner's random questions — instantly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meeting, ask anything about the project and get the number and the sheet in seconds.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6809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GFA / BUA / plot ratio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built-up and gross floor areas, per floor or total.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643417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 txBox="1"/>
          <p:nvPr/>
        </p:nvSpPr>
        <p:spPr>
          <a:xfrm>
            <a:off x="643417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◱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&amp; room data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areas, counts and schedules pulled straight from drawings.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76809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 txBox="1"/>
          <p:nvPr/>
        </p:nvSpPr>
        <p:spPr>
          <a:xfrm>
            <a:off x="76809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&amp; dimensions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depths, heights and key dimensions on demand.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300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643417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 txBox="1"/>
          <p:nvPr/>
        </p:nvSpPr>
        <p:spPr>
          <a:xfrm>
            <a:off x="643417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Elevations &amp; levels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168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heights and elevation references at a glance.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8A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LIST  ·  BUDGETS, VE &amp; COST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Value-Engineering intelligence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cost sheets and BOQs locally to compare options and sanity-check numbers fast.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6809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8A6C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BOQ / cost Excel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budgets and quantities in plain language.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643417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8A6C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 txBox="1"/>
          <p:nvPr/>
        </p:nvSpPr>
        <p:spPr>
          <a:xfrm>
            <a:off x="643417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⇆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VE options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value-engineering scenarios and impacts.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76809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8A6C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 txBox="1"/>
          <p:nvPr/>
        </p:nvSpPr>
        <p:spPr>
          <a:xfrm>
            <a:off x="76809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flag where costs drift from budget.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300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643417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8A6C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 txBox="1"/>
          <p:nvPr/>
        </p:nvSpPr>
        <p:spPr>
          <a:xfrm>
            <a:off x="643417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sanity checks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168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quantities against the drawings.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LIST  ·  DATA &amp; QUANTITY EXTRACTION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 quantities and project data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AI build a queryable data sheet from the drawings — no manual takeoff.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6809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5B7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Door, finish and room schedules extracted automatically.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643417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5B7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 txBox="1"/>
          <p:nvPr/>
        </p:nvSpPr>
        <p:spPr>
          <a:xfrm>
            <a:off x="643417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&amp; GFA/BUA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Per-floor and total areas computed from the plans.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76809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5B7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 txBox="1"/>
          <p:nvPr/>
        </p:nvSpPr>
        <p:spPr>
          <a:xfrm>
            <a:off x="76809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↖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dimensions and setbacks pulled from sheets.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300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643417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5B7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 txBox="1"/>
          <p:nvPr/>
        </p:nvSpPr>
        <p:spPr>
          <a:xfrm>
            <a:off x="643417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datasheet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168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live, searchable data sheet per project.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LIST  ·  REPORTS &amp; REVISIONS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reports, revision diffs &amp; audit trail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the paperwork automatically and always know what changed and who asked what.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6809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reports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Word/PDF review reports with citations.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643417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 txBox="1"/>
          <p:nvPr/>
        </p:nvSpPr>
        <p:spPr>
          <a:xfrm>
            <a:off x="643417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comparison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changed from Rev A → B → 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76809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 txBox="1"/>
          <p:nvPr/>
        </p:nvSpPr>
        <p:spPr>
          <a:xfrm>
            <a:off x="76809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of uploads, questions and access.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300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643417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 txBox="1"/>
          <p:nvPr/>
        </p:nvSpPr>
        <p:spPr>
          <a:xfrm>
            <a:off x="643417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sheets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168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Standardized, consistent comment output every time.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LIST  ·  DEEPER BIM &amp; MULTI-PROJECT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3D viewer — clashes, live link &amp; model checks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3D model is already live and AI-connected. Next we go deeper into the model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6809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project switch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across all jobs with permissions intact.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643417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 txBox="1"/>
          <p:nvPr/>
        </p:nvSpPr>
        <p:spPr>
          <a:xfrm>
            <a:off x="643417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Navisworks clash summaries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summaries of model clashes.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76809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 txBox="1"/>
          <p:nvPr/>
        </p:nvSpPr>
        <p:spPr>
          <a:xfrm>
            <a:off x="76809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Revit / model link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model as it's being designed, not just IFC snapshots.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300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643417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 txBox="1"/>
          <p:nvPr/>
        </p:nvSpPr>
        <p:spPr>
          <a:xfrm>
            <a:off x="643417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DBC checks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168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checks on the 3D model, not just the sheets.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BUILDING IT IN-HOUSE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local &amp; private beats a cloud tool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46040" cy="4297680"/>
          </a:xfrm>
          <a:prstGeom prst="roundRect">
            <a:avLst>
              <a:gd name="adj" fmla="val 2128"/>
            </a:avLst>
          </a:prstGeom>
          <a:solidFill>
            <a:srgbClr val="1E2C46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 txBox="1"/>
          <p:nvPr/>
        </p:nvSpPr>
        <p:spPr>
          <a:xfrm>
            <a:off x="841248" y="1828800"/>
            <a:ext cx="479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local platform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77440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 never leaves the office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44368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confidentiality for every client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511296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per-seat cloud subscription fees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078224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offline, even on site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645152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and control the whole system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5212080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to our drawings, codes &amp; workflow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78728" y="1600200"/>
            <a:ext cx="5346040" cy="4297680"/>
          </a:xfrm>
          <a:prstGeom prst="roundRect">
            <a:avLst>
              <a:gd name="adj" fmla="val 2128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 txBox="1"/>
          <p:nvPr/>
        </p:nvSpPr>
        <p:spPr>
          <a:xfrm>
            <a:off x="6553048" y="1828800"/>
            <a:ext cx="479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cloud AI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2377440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data sent to the internet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2944368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NDA risk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3511296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per-user monthly fees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4078224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constant connectivity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4645152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controls your data &amp; access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5212080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— doesn't know our standards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roadmap — from live foundation to full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58720" cy="39776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 txBox="1"/>
          <p:nvPr/>
        </p:nvSpPr>
        <p:spPr>
          <a:xfrm>
            <a:off x="786384" y="2039112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86384" y="247802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 txBox="1"/>
          <p:nvPr/>
        </p:nvSpPr>
        <p:spPr>
          <a:xfrm>
            <a:off x="786384" y="247802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017520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offline Q&amp;A + citations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584448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vision + DBC KB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4151376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&amp; security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4718304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BIM viewer + model Q&amp;A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99968" y="1783080"/>
            <a:ext cx="2558720" cy="39776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 txBox="1"/>
          <p:nvPr/>
        </p:nvSpPr>
        <p:spPr>
          <a:xfrm>
            <a:off x="3619424" y="2039112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619424" y="247802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4D7CFE">
              <a:alpha val="18000"/>
            </a:srgbClr>
          </a:solidFill>
          <a:ln w="12700">
            <a:solidFill>
              <a:srgbClr val="4D7CF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 txBox="1"/>
          <p:nvPr/>
        </p:nvSpPr>
        <p:spPr>
          <a:xfrm>
            <a:off x="3619424" y="24780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19424" y="3017520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DBC/IBC checks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19424" y="3584448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copilot (GFA/BUA)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19424" y="4151376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review reports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3008" y="1783080"/>
            <a:ext cx="2558720" cy="39776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 txBox="1"/>
          <p:nvPr/>
        </p:nvSpPr>
        <p:spPr>
          <a:xfrm>
            <a:off x="6452464" y="2039112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52464" y="247802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8A6CFF">
              <a:alpha val="18000"/>
            </a:srgbClr>
          </a:solidFill>
          <a:ln w="12700">
            <a:solidFill>
              <a:srgbClr val="8A6C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 txBox="1"/>
          <p:nvPr/>
        </p:nvSpPr>
        <p:spPr>
          <a:xfrm>
            <a:off x="6452464" y="24780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52464" y="3017520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A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&amp; VE analysis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52464" y="3584448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A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extraction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52464" y="4151376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A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comparison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66047" y="1783080"/>
            <a:ext cx="2558720" cy="39776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 txBox="1"/>
          <p:nvPr/>
        </p:nvSpPr>
        <p:spPr>
          <a:xfrm>
            <a:off x="9285503" y="2039112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285503" y="2478024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F5B73D">
              <a:alpha val="18000"/>
            </a:srgbClr>
          </a:solidFill>
          <a:ln w="12700">
            <a:solidFill>
              <a:srgbClr val="F5B73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 txBox="1"/>
          <p:nvPr/>
        </p:nvSpPr>
        <p:spPr>
          <a:xfrm>
            <a:off x="9285503" y="2478024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285503" y="3017520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Navisworks clash summaries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285503" y="3584448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Revit model link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285503" y="4151376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DBC checks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already through Phase 1 — the rest builds on the same private foundation.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&amp; WHAT WE GET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— and the payoff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18233A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 txBox="1"/>
          <p:nvPr/>
        </p:nvSpPr>
        <p:spPr>
          <a:xfrm>
            <a:off x="841248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scale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331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B7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 txBox="1"/>
          <p:nvPr/>
        </p:nvSpPr>
        <p:spPr>
          <a:xfrm>
            <a:off x="84124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44168" y="23134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5877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 GB GPU workstation (or small office server for multi-user).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31729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B7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 txBox="1"/>
          <p:nvPr/>
        </p:nvSpPr>
        <p:spPr>
          <a:xfrm>
            <a:off x="841248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1546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build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344168" y="3429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time to deliver Phases 2–3.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" y="40142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B7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 txBox="1"/>
          <p:nvPr/>
        </p:nvSpPr>
        <p:spPr>
          <a:xfrm>
            <a:off x="841248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44168" y="399592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project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344168" y="42702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job to prove value end-to-end.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1248" y="4855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B7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 txBox="1"/>
          <p:nvPr/>
        </p:nvSpPr>
        <p:spPr>
          <a:xfrm>
            <a:off x="841248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44168" y="48371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344168" y="51114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approval to proceed.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1600200"/>
            <a:ext cx="5541264" cy="4297680"/>
          </a:xfrm>
          <a:prstGeom prst="roundRect">
            <a:avLst>
              <a:gd name="adj" fmla="val 2128"/>
            </a:avLst>
          </a:prstGeom>
          <a:solidFill>
            <a:srgbClr val="1E2C46"/>
          </a:solidFill>
          <a:ln/>
          <a:effectLst>
            <a:outerShdw blurRad="177800" dist="63500" dir="5400000" algn="bl" rotWithShape="0">
              <a:srgbClr val="000000">
                <a:alpha val="4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 txBox="1"/>
          <p:nvPr/>
        </p:nvSpPr>
        <p:spPr>
          <a:xfrm>
            <a:off x="630936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time per task (minutes)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1396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impact — for illustration</a:t>
            </a:r>
            <a:endParaRPr lang="en-US" sz="10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6263640" y="2514600"/>
          <a:ext cx="52120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645920"/>
            <a:ext cx="5943600" cy="5943600"/>
          </a:xfrm>
          <a:prstGeom prst="roundRect">
            <a:avLst>
              <a:gd name="adj" fmla="val 50000"/>
            </a:avLst>
          </a:prstGeom>
          <a:solidFill>
            <a:srgbClr val="4D7CFE">
              <a:alpha val="12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-1828800" y="384048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31D0A5">
              <a:alpha val="9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 txBox="1"/>
          <p:nvPr/>
        </p:nvSpPr>
        <p:spPr>
          <a:xfrm>
            <a:off x="566928" y="21488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our own</a:t>
            </a:r>
            <a:endParaRPr lang="en-US" sz="40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intelligence.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148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today. Growing every phase. </a:t>
            </a:r>
            <a:r>
              <a:rPr lang="en-US" sz="17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hardware, on our terms — private by design.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5943600"/>
            <a:ext cx="11057839" cy="0"/>
          </a:xfrm>
          <a:prstGeom prst="line">
            <a:avLst/>
          </a:prstGeom>
          <a:noFill/>
          <a:ln w="12700">
            <a:solidFill>
              <a:srgbClr val="27364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 txBox="1"/>
          <p:nvPr/>
        </p:nvSpPr>
        <p:spPr>
          <a:xfrm>
            <a:off x="566928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Design AI  ·  Local, offline, confidential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1989</Words>
  <Application>Microsoft Office PowerPoint</Application>
  <PresentationFormat>Widescreen</PresentationFormat>
  <Paragraphs>303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 Design AI — Local Automation Dream List</dc:title>
  <dc:subject>PptxGenJS Presentation</dc:subject>
  <dc:creator>Expo Design AI</dc:creator>
  <cp:lastModifiedBy>Mohammad Shahnawaz</cp:lastModifiedBy>
  <cp:revision>2</cp:revision>
  <dcterms:created xsi:type="dcterms:W3CDTF">2026-09-26T21:34:25Z</dcterms:created>
  <dcterms:modified xsi:type="dcterms:W3CDTF">2026-09-28T05:09:09Z</dcterms:modified>
</cp:coreProperties>
</file>