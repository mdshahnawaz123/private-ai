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today</c:v>
                </c:pt>
              </c:strCache>
            </c:strRef>
          </c:tx>
          <c:spPr>
            <a:solidFill>
              <a:srgbClr val="6B7A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AF0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Drawing vs code check</c:v>
                  </c:pt>
                  <c:pt idx="1">
                    <c:v>Find a value in a meeting</c:v>
                  </c:pt>
                  <c:pt idx="2">
                    <c:v>Quantity takeoff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8</c:v>
                </c:pt>
                <c:pt idx="2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Expo AI</c:v>
                </c:pt>
              </c:strCache>
            </c:strRef>
          </c:tx>
          <c:spPr>
            <a:solidFill>
              <a:srgbClr val="31D0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AF0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Drawing vs code check</c:v>
                  </c:pt>
                  <c:pt idx="1">
                    <c:v>Find a value in a meeting</c:v>
                  </c:pt>
                  <c:pt idx="2">
                    <c:v>Quantity takeoff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1</c:v>
                </c:pt>
                <c:pt idx="2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AF0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we already run a working private AI on our own hardware. This deck shows what's live, the dream list of what we can automate for our day-to-day client-side work, and what we need to scale it. Key message: nothing goes to the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picture of our day-to-day. Every item here is something an AI that has read the project can do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security because it is the reason we build this in-house rather than using a cloud tool. This is the differentiator management cares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already exists and works. It proves the dream list is achievable, not wishful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simple. The point: one consistent, private pipeline that works across every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biggest time-saver: the daily drawing-vs-code review, automated and cited.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maps directly to the owner-in-the-meeting pain point. Live, private, instant — and switch projects on the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is where management feels value fastest. All local, no cost data to the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feeds both the meeting copilot and the compliance checks — a single source of extracted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and audit make this defensible and professional — important for a consultant/client-side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BIM is the long-term prize: query the model itself. Positioned last because it's the most ambitious.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build-vs-buy decision. Our confidentiality requirement basically rules out generic cloud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done de-risks everything after it. Each phase is independently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chart honest — label it illustrative/target. The ask is modest relative to the recurring time saved and risk avoided.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decision: approve the hardware + time, pick a pilot, and we scale what's already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4D7CF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02336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8A6C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7160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4D7CFE"/>
          </a:solidFill>
          <a:ln/>
          <a:effectLst>
            <a:outerShdw sx="100000" sy="100000" kx="0" ky="0" algn="bl" rotWithShape="0" blurRad="228600" dist="63500" dir="5400000">
              <a:srgbClr val="1E3AA0">
                <a:alpha val="4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618488" y="14813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DESIGN AI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8595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engineering brain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project.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34340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AI that reviews drawings, answers owner questions instantly, and checks compliance —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offline. No project data ever leaves our office.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5989320"/>
            <a:ext cx="11057839" cy="0"/>
          </a:xfrm>
          <a:prstGeom prst="line">
            <a:avLst/>
          </a:prstGeom>
          <a:noFill/>
          <a:ln w="12700">
            <a:solidFill>
              <a:srgbClr val="2736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Dream List  ·  What's live today &amp; what's next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967167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Management  ·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REALITY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loses hours to manual, repetitive checks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7315200" cy="932688"/>
          </a:xfrm>
          <a:prstGeom prst="roundRect">
            <a:avLst>
              <a:gd name="adj" fmla="val 9804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19656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F258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8196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728216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drawings against DBC / IBC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07568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Clause-by-clause, sheet-by-sheet, by hand — slow and easy to miss.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660904"/>
            <a:ext cx="7315200" cy="932688"/>
          </a:xfrm>
          <a:prstGeom prst="roundRect">
            <a:avLst>
              <a:gd name="adj" fmla="val 9804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8096" y="288036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F258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" y="2880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7889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Value-Engineering reviews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13639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Digging through BOQs and cost sheets to compare options.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721608"/>
            <a:ext cx="7315200" cy="932688"/>
          </a:xfrm>
          <a:prstGeom prst="roundRect">
            <a:avLst>
              <a:gd name="adj" fmla="val 9804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3941064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F258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" y="39410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849624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fire random questions in meetings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19709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GFA? BUA? this section dimension? that elevation?”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782312"/>
            <a:ext cx="7315200" cy="932688"/>
          </a:xfrm>
          <a:prstGeom prst="roundRect">
            <a:avLst>
              <a:gd name="adj" fmla="val 9804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5001768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F258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096" y="5001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91032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Juggling many projects at once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525780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context and re-finding the right sheet, again and again.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75320" y="1600200"/>
            <a:ext cx="3346704" cy="4206240"/>
          </a:xfrm>
          <a:prstGeom prst="roundRect">
            <a:avLst>
              <a:gd name="adj" fmla="val 2732"/>
            </a:avLst>
          </a:prstGeom>
          <a:solidFill>
            <a:srgbClr val="1E2C46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50392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2606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306324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finding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that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already in the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drawings.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5074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answers must stay confidential to the client.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NON-NEGOTIABLE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 — the data never leaves the building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client-side. Our projects are confidential. So the entire system runs on our own hardware, fully offline — the AI's power without the cloud's risk.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2558720" cy="30632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060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1D0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291840"/>
            <a:ext cx="2119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own workstation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931920"/>
            <a:ext cx="21198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local GPU PC in the office. No servers, no internet dependency.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99968" y="2331720"/>
            <a:ext cx="2558720" cy="30632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7712" y="26060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4D7C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771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9424" y="3291840"/>
            <a:ext cx="2119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goes to the internet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619424" y="3931920"/>
            <a:ext cx="21198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Drawings, budgets and answers stay 100% inside our network.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3008" y="2331720"/>
            <a:ext cx="2558720" cy="30632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70752" y="26060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8A6C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7075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52464" y="3291840"/>
            <a:ext cx="2119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folder security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452464" y="3931920"/>
            <a:ext cx="21198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sees only the folders they're assigned — enforced by the system.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66047" y="2331720"/>
            <a:ext cx="2558720" cy="30632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03791" y="26060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5B7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03791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85503" y="3291840"/>
            <a:ext cx="2119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&amp; controllable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285503" y="3931920"/>
            <a:ext cx="21198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 and question is logged. We own and control everything.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intelligence of a large AI, with the confidentiality our clients demand.”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REAL — NOT A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working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481328"/>
          </a:xfrm>
          <a:prstGeom prst="roundRect">
            <a:avLst>
              <a:gd name="adj" fmla="val 6173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5564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31D0A5">
              <a:alpha val="18000"/>
            </a:srgbClr>
          </a:solidFill>
          <a:ln w="12700">
            <a:solidFill>
              <a:srgbClr val="31D0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7556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066544"/>
            <a:ext cx="30641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documents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377440"/>
            <a:ext cx="30641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language; get an answer with the exact source file and page.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4314" y="1554480"/>
            <a:ext cx="3503066" cy="1481328"/>
          </a:xfrm>
          <a:prstGeom prst="roundRect">
            <a:avLst>
              <a:gd name="adj" fmla="val 6173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3770" y="175564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31D0A5">
              <a:alpha val="18000"/>
            </a:srgbClr>
          </a:solidFill>
          <a:ln w="12700">
            <a:solidFill>
              <a:srgbClr val="31D0A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3770" y="17556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63770" y="2066544"/>
            <a:ext cx="30641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drawings (vision)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63770" y="2377440"/>
            <a:ext cx="30641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vision model reads PDF drawings, DWG/DXF and images — not just text.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1701" y="1554480"/>
            <a:ext cx="3503066" cy="1481328"/>
          </a:xfrm>
          <a:prstGeom prst="roundRect">
            <a:avLst>
              <a:gd name="adj" fmla="val 6173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41157" y="175564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31D0A5">
              <a:alpha val="18000"/>
            </a:srgbClr>
          </a:solidFill>
          <a:ln w="12700">
            <a:solidFill>
              <a:srgbClr val="31D0A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41157" y="17556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41157" y="2066544"/>
            <a:ext cx="30641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 / IBC knowledge base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41157" y="2377440"/>
            <a:ext cx="30641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&amp; international codes loaded as a private reference the AI can cite.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273552"/>
            <a:ext cx="3503066" cy="1481328"/>
          </a:xfrm>
          <a:prstGeom prst="roundRect">
            <a:avLst>
              <a:gd name="adj" fmla="val 6173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34747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31D0A5">
              <a:alpha val="18000"/>
            </a:srgbClr>
          </a:solidFill>
          <a:ln w="12700">
            <a:solidFill>
              <a:srgbClr val="31D0A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34747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3785616"/>
            <a:ext cx="30641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→ Folders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4096512"/>
            <a:ext cx="30641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per project and folder, the way our teams actually work.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4314" y="3273552"/>
            <a:ext cx="3503066" cy="1481328"/>
          </a:xfrm>
          <a:prstGeom prst="roundRect">
            <a:avLst>
              <a:gd name="adj" fmla="val 6173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3770" y="34747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31D0A5">
              <a:alpha val="18000"/>
            </a:srgbClr>
          </a:solidFill>
          <a:ln w="12700">
            <a:solidFill>
              <a:srgbClr val="31D0A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63770" y="34747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63770" y="3785616"/>
            <a:ext cx="30641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Folder-level security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63770" y="4096512"/>
            <a:ext cx="30641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access only assigned folders — with a built-in permission test.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21701" y="3273552"/>
            <a:ext cx="3503066" cy="1481328"/>
          </a:xfrm>
          <a:prstGeom prst="roundRect">
            <a:avLst>
              <a:gd name="adj" fmla="val 6173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41157" y="34747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31D0A5">
              <a:alpha val="18000"/>
            </a:srgbClr>
          </a:solidFill>
          <a:ln w="12700">
            <a:solidFill>
              <a:srgbClr val="31D0A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41157" y="34747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341157" y="3785616"/>
            <a:ext cx="30641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format, offline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41157" y="4096512"/>
            <a:ext cx="30641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Excel, DWG/DXF, images — all processed on our own machine.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running on our own hardware — this is the foundation the dream list is built 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drawings to instant answers — all in-house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476424" cy="2743200"/>
          </a:xfrm>
          <a:prstGeom prst="roundRect">
            <a:avLst>
              <a:gd name="adj" fmla="val 3692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100" y="232257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4D7C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5100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108960"/>
            <a:ext cx="2110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493008"/>
            <a:ext cx="2110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Drawings, PDFs, Excel, DWG — into the right project &amp; folder.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15920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27400" y="2011680"/>
            <a:ext cx="2476424" cy="2743200"/>
          </a:xfrm>
          <a:prstGeom prst="roundRect">
            <a:avLst>
              <a:gd name="adj" fmla="val 3692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5572" y="232257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8A6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5572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0280" y="3108960"/>
            <a:ext cx="2110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10280" y="3493008"/>
            <a:ext cx="2110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vision + text engine extracts every page, drawing and value.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76392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87872" y="2011680"/>
            <a:ext cx="2476424" cy="2743200"/>
          </a:xfrm>
          <a:prstGeom prst="roundRect">
            <a:avLst>
              <a:gd name="adj" fmla="val 3692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06044" y="232257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31D0A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06044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70752" y="3108960"/>
            <a:ext cx="2110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index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70752" y="3493008"/>
            <a:ext cx="2110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indexed securely on our own machine — nothing leaves.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736863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48343" y="2011680"/>
            <a:ext cx="2476424" cy="2743200"/>
          </a:xfrm>
          <a:prstGeom prst="roundRect">
            <a:avLst>
              <a:gd name="adj" fmla="val 3692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66515" y="232257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5B7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66515" y="2322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31223" y="3108960"/>
            <a:ext cx="2110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&amp; get answers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31223" y="3493008"/>
            <a:ext cx="21106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questions → answers with source file + exact page.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21208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flow, any project — switch instantly between all our jobs.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LIST  ·  AUTOMATED DESIGN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drawings against DBC / IBC — automatically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hours of manual clause-checking into an instant, cited compliance pass.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Clause-by-clause checks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Auto-verify drawings against DBC &amp; IBC and flag issues.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417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3417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0168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 flags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what fails and quote the exact code clause.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review comments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standardized comment sheets per discipline.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300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417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3417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0168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0168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mismatches across sheets and between revisions.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LIST  ·  MEETING COPILOT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owner's random questions — instantly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meeting, ask anything about the project and get the number and the sheet in seconds.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GFA / BUA / plot ratio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built-up and gross floor areas, per floor or total.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417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3417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◱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0168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&amp; room data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areas, counts and schedules pulled straight from drawings.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&amp; dimensions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depths, heights and key dimensions on demand.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300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417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3417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0168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Elevations &amp; levels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0168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heights and elevation references at a glance.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LIST  ·  BUDGETS, VE &amp; COST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Value-Engineering intelligence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cost sheets and BOQs locally to compare options and sanity-check numbers fast.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8A6C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BOQ / cost Excel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budgets and quantities in plain language.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417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8A6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3417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⇆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0168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VE options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value-engineering scenarios and impacts.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8A6C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flag where costs drift from budget.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300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417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8A6C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3417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0168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sanity checks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0168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quantities against the drawings.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LIST  ·  DATA &amp; QUANTITY EXTRACTION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 quantities and project data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AI build a queryable data sheet from the drawings — no manual takeoff.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5B7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Door, finish and room schedules extracted automatically.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417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5B7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3417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0168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&amp; GFA/BUA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Per-floor and total areas computed from the plans.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5B7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↖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dimensions and setbacks pulled from sheets.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300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417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5B7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3417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0168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datasheet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0168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live, searchable data sheet per project.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LIST  ·  REPORTS &amp; REVISIONS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reports, revision diffs &amp; audit trail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the paperwork automatically and always know what changed and who asked what.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reports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Word/PDF review reports with citations.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417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3417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0168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comparison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changed from Rev A → B → C.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of uploads, questions and access.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300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417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1D0A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3417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0168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sheets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0168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Standardized, consistent comment output every time.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LIST  ·  MULTI-PROJECT &amp; BIM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at your fingertips — and BIM-aware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across all jobs instantly and connect the AI to our 3D models.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project switch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between all projects with permissions intact.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148840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4176" y="23682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34176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01688" y="2295144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Revit / IFC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101688" y="2606040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BIM model, not just the drawings.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 summaries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summaries of Navisworks clashes.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3008" y="3191256"/>
            <a:ext cx="5391760" cy="914400"/>
          </a:xfrm>
          <a:prstGeom prst="roundRect">
            <a:avLst>
              <a:gd name="adj" fmla="val 10000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4176" y="34107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D7CF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34176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01688" y="3337560"/>
            <a:ext cx="434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quantities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01688" y="3648456"/>
            <a:ext cx="434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and areas straight from the 3D model.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BUILDING IT IN-HOUSE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local &amp; private beats a cloud tool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46040" cy="4297680"/>
          </a:xfrm>
          <a:prstGeom prst="roundRect">
            <a:avLst>
              <a:gd name="adj" fmla="val 2128"/>
            </a:avLst>
          </a:prstGeom>
          <a:solidFill>
            <a:srgbClr val="1E2C46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828800"/>
            <a:ext cx="479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local platform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77440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 never leaves the office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44368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confidentiality for every client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511296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per-seat cloud subscription fees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078224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offline, even on site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645152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and control the whole system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5212080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to our drawings, codes &amp; workflow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78728" y="1600200"/>
            <a:ext cx="5346040" cy="4297680"/>
          </a:xfrm>
          <a:prstGeom prst="roundRect">
            <a:avLst>
              <a:gd name="adj" fmla="val 2128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53048" y="1828800"/>
            <a:ext cx="479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cloud AI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2377440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data sent to the internet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2944368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NDA risk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3511296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per-user monthly fees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4078224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constant connectivity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4645152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controls your data &amp; access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5212080"/>
            <a:ext cx="479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— doesn't know our standards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roadmap — from live foundation to full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58720" cy="39776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86384" y="2039112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86384" y="247802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31D0A5">
              <a:alpha val="18000"/>
            </a:srgbClr>
          </a:solidFill>
          <a:ln w="12700">
            <a:solidFill>
              <a:srgbClr val="31D0A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47802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017520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offline Q&amp;A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584448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vision + DBC KB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4151376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&amp; security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4718304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page citations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99968" y="1783080"/>
            <a:ext cx="2558720" cy="39776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619424" y="2039112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619424" y="247802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4D7CFE">
              <a:alpha val="18000"/>
            </a:srgbClr>
          </a:solidFill>
          <a:ln w="12700">
            <a:solidFill>
              <a:srgbClr val="4D7C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9424" y="24780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19424" y="3017520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DBC/IBC checks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19424" y="3584448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copilot (GFA/BUA)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19424" y="4151376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D7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review reports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3008" y="1783080"/>
            <a:ext cx="2558720" cy="39776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52464" y="2039112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52464" y="247802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8A6CFF">
              <a:alpha val="18000"/>
            </a:srgbClr>
          </a:solidFill>
          <a:ln w="12700">
            <a:solidFill>
              <a:srgbClr val="8A6C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52464" y="24780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52464" y="3017520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A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&amp; VE analysis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52464" y="3584448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A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extraction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52464" y="4151376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A6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comparison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66047" y="1783080"/>
            <a:ext cx="2558720" cy="3977640"/>
          </a:xfrm>
          <a:prstGeom prst="roundRect">
            <a:avLst>
              <a:gd name="adj" fmla="val 3574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285503" y="2039112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9285503" y="2478024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F5B73D">
              <a:alpha val="18000"/>
            </a:srgbClr>
          </a:solidFill>
          <a:ln w="12700">
            <a:solidFill>
              <a:srgbClr val="F5B7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85503" y="2478024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285503" y="3017520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/ Revit / Navisworks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285503" y="3584448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quantities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285503" y="4151376"/>
            <a:ext cx="2156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Multi-project dashboard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already through Phase 1 — the rest builds on the same private foundation.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&amp; WHAT WE GET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— and the payoff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18233A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scale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2331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5B7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44168" y="23134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5877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 GB GPU workstation (or small office server for multi-user).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31729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5B7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1546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build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344168" y="3429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time to deliver Phases 2–3.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" y="40142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5B7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44168" y="399592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project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344168" y="42702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job to prove value end-to-end.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1248" y="48554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5B7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44168" y="48371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344168" y="51114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approval to proceed.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1600200"/>
            <a:ext cx="5541264" cy="4297680"/>
          </a:xfrm>
          <a:prstGeom prst="roundRect">
            <a:avLst>
              <a:gd name="adj" fmla="val 2128"/>
            </a:avLst>
          </a:prstGeom>
          <a:solidFill>
            <a:srgbClr val="1E2C46"/>
          </a:solidFill>
          <a:ln/>
          <a:effectLst>
            <a:outerShdw sx="100000" sy="100000" kx="0" ky="0" algn="bl" rotWithShape="0" blurRad="177800" dist="63500" dir="5400000">
              <a:srgbClr val="000000">
                <a:alpha val="4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09360" y="1828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time per task (minutes)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1396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impact — for illustration</a:t>
            </a:r>
            <a:endParaRPr lang="en-US" sz="10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263640" y="251460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645920"/>
            <a:ext cx="5943600" cy="5943600"/>
          </a:xfrm>
          <a:prstGeom prst="roundRect">
            <a:avLst>
              <a:gd name="adj" fmla="val 50000"/>
            </a:avLst>
          </a:prstGeom>
          <a:solidFill>
            <a:srgbClr val="4D7CF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84048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31D0A5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1488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our own</a:t>
            </a:r>
            <a:endParaRPr lang="en-US" sz="4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intelligence.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148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today. Growing every phase.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31D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hardware, on our terms — private by design.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5943600"/>
            <a:ext cx="11057839" cy="0"/>
          </a:xfrm>
          <a:prstGeom prst="line">
            <a:avLst/>
          </a:prstGeom>
          <a:noFill/>
          <a:ln w="12700">
            <a:solidFill>
              <a:srgbClr val="2736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Design AI  ·  Local, offline, confidential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 Design AI — Local Automation Dream List</dc:title>
  <dc:subject>PptxGenJS Presentation</dc:subject>
  <dc:creator>Expo Design AI</dc:creator>
  <cp:lastModifiedBy>Expo Design AI</cp:lastModifiedBy>
  <cp:revision>1</cp:revision>
  <dcterms:created xsi:type="dcterms:W3CDTF">2026-09-26T20:18:13Z</dcterms:created>
  <dcterms:modified xsi:type="dcterms:W3CDTF">2026-09-26T20:18:14Z</dcterms:modified>
</cp:coreProperties>
</file>